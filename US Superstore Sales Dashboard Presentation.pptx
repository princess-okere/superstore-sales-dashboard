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BF7"/>
    <a:srgbClr val="75757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10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63BB-1F57-E820-465F-351764735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FF279-5765-69B3-E632-364E8D57A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C8589-1ADE-44ED-AEE4-A14D575D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F6B3-C186-C493-91DE-CAEF5ABA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0159-6FD2-93D5-D15B-135B1B1B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832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66DE-ED8B-9F09-F279-6BE08CEB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985D-1B13-6A7A-82CD-19C9CAA8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1836D-C231-99DA-529D-6AC2576E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7829-A5C9-C743-3757-54716324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FCB9-CCC7-AA24-536D-3349F2DA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6248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1AC6-9A18-D8AA-C78F-295E4A61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096E4-5EDB-DDDC-1DA3-1569B4A01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C0F4E-42EB-5358-5119-7E090250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59214-C6F0-6769-3BE9-BC06BEAB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C42C0-9F58-95FF-A900-A2B7D8E1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0858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C200-04C7-0ABA-8BAB-5A4DB427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DE7C-DEC2-E40E-19C6-B49C1AAE8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7921F-8C71-7B0F-D7C8-1ED1EB092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7025A-CDC4-1B11-4E2E-49D38998B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87659-94D6-04DD-97B8-A0873447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D4332-2D4F-379F-200D-E2F236CA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854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0689-C89D-783C-1C83-0D207060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3C2C2-BC86-2534-CA47-69FB0A7CB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26E00-C0F0-C531-4ED4-070298CC6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C598C-7EE5-31E7-424A-6096FA309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94B5E-F071-4EF7-E81E-26330FC4C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1A281-23DD-66D0-0D54-0B13B20C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C9758-8A2B-02B6-BDBF-7828AFF4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21B9C-704D-A34D-B8C3-D10C57D7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5250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D5A8-2CF6-D626-A5E7-5FF85C58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6A567-2121-7E4F-1647-FD590634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3E21C-6D2F-367F-0038-564FB1A8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2C799-0FE9-810D-5B59-DF61BA3D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729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AD919-19A1-BB6D-7F97-6B2395DF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60A9D-6B3B-29CC-BE4C-442766AF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258C6-AD2F-4E6C-4EEA-C8BDDD9D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40630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B692-9243-6E59-6085-E3E514A0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5675D-1AA5-8E49-9C75-A3127AA0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FE08B-49D4-E735-A952-EA6EB0A95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93FBC-07A5-B4CE-07AF-0F83BD85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E49BE-215C-9C8C-4010-903BE865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5A398-853E-24BB-5095-887904E1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2486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C67C-17B7-0ACE-CC3C-C4D34F2D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69857-3D81-045C-EF7C-4AB8A9AE7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821AE-C191-3AB1-6BDC-591308C28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C35C8-99EE-97E4-783B-B005B601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D1ABF-5329-0590-2CE1-BD37C613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E13A8-DC31-6EA8-A01B-79EED72B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0380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7114-D62E-9DD7-6BD6-3C5E3524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245AF-A476-2FAB-9323-D8F7BCE1E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C89D3-9CEA-A666-7B47-2987ECED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ADDA3-77B2-5B89-7B7F-9273E1EF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C8B6A-68F6-08E1-8217-5573EE49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1077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9D0DC-B18A-D8ED-BE61-1DD6C5920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5D891-DE3B-82EE-BA8F-30AA74FD6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B3BE3-2DF2-1B0C-D9A4-1EA12E2E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1A47A-311A-2BBB-C22D-675CFCEC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CD9FC-8FAB-3B8A-17EB-8D480339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240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CD841-6605-A442-B58C-4F304961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234A7-097F-D2F4-CC26-602B08288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1D67-C682-52F5-41E2-C1C337FA0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2EFA1-47D0-47C5-86AB-40E11291074D}" type="datetimeFigureOut">
              <a:rPr lang="en-NG" smtClean="0"/>
              <a:t>10/06/2026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F157-C0A8-70A7-2DF4-9FDA5BC87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0C09-CFAF-D490-EB83-3B6653E84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D40D5-4A81-4AC3-9CED-98E34FE9302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2733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ncess-Okere/Superstore-Sales-Dashboard.gi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ncess-Okere/Superstore-Sales-Dashboard.gi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8BD7-878E-7D27-C72C-B399197853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 Superstore Sales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Dashboard</a:t>
            </a:r>
            <a:endParaRPr lang="en-NG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DFE4E-211F-159E-BB53-4C419A5231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Excel | Power Query | Pivot Tables | 2015-2018</a:t>
            </a:r>
            <a:endParaRPr lang="en-NG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2EBD1-7CDB-395F-5530-D624027E606B}"/>
              </a:ext>
            </a:extLst>
          </p:cNvPr>
          <p:cNvSpPr txBox="1"/>
          <p:nvPr/>
        </p:nvSpPr>
        <p:spPr>
          <a:xfrm>
            <a:off x="4864359" y="4980543"/>
            <a:ext cx="246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Princess Ohiri-Okere</a:t>
            </a:r>
            <a:endParaRPr lang="en-NG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93C0C3-91B7-6839-7068-21D84FAF3F9C}"/>
              </a:ext>
            </a:extLst>
          </p:cNvPr>
          <p:cNvCxnSpPr>
            <a:cxnSpLocks/>
          </p:cNvCxnSpPr>
          <p:nvPr/>
        </p:nvCxnSpPr>
        <p:spPr>
          <a:xfrm>
            <a:off x="1735494" y="3429000"/>
            <a:ext cx="8696130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5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E2183-AD03-C1AC-4FA4-466BA6790020}"/>
              </a:ext>
            </a:extLst>
          </p:cNvPr>
          <p:cNvSpPr txBox="1"/>
          <p:nvPr/>
        </p:nvSpPr>
        <p:spPr>
          <a:xfrm>
            <a:off x="802432" y="298580"/>
            <a:ext cx="4739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at a Glance:</a:t>
            </a:r>
            <a:endParaRPr lang="en-NG" sz="3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D4F58-EA4A-C9B3-2976-B099FE85FE12}"/>
              </a:ext>
            </a:extLst>
          </p:cNvPr>
          <p:cNvSpPr txBox="1"/>
          <p:nvPr/>
        </p:nvSpPr>
        <p:spPr>
          <a:xfrm>
            <a:off x="802436" y="1511350"/>
            <a:ext cx="7091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📊 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 Superstore Sales</a:t>
            </a:r>
            <a:endParaRPr lang="en-NG"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5B470-3B78-026E-3CE5-A0E72E7306FB}"/>
              </a:ext>
            </a:extLst>
          </p:cNvPr>
          <p:cNvSpPr txBox="1"/>
          <p:nvPr/>
        </p:nvSpPr>
        <p:spPr>
          <a:xfrm>
            <a:off x="802435" y="2339370"/>
            <a:ext cx="7091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G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📁  </a:t>
            </a:r>
            <a:r>
              <a:rPr lang="en-NG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</a:t>
            </a:r>
            <a:r>
              <a:rPr lang="en-NG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9,800 Transactions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8762D-19C6-00FE-F023-3581E0B13393}"/>
              </a:ext>
            </a:extLst>
          </p:cNvPr>
          <p:cNvSpPr txBox="1"/>
          <p:nvPr/>
        </p:nvSpPr>
        <p:spPr>
          <a:xfrm>
            <a:off x="802434" y="3167390"/>
            <a:ext cx="7091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G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📅 </a:t>
            </a:r>
            <a:r>
              <a:rPr lang="en-NG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G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 </a:t>
            </a:r>
            <a:r>
              <a:rPr lang="en-NG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NG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 – 2018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796CD-8F10-E400-92FD-A9C42E3DC7A3}"/>
              </a:ext>
            </a:extLst>
          </p:cNvPr>
          <p:cNvSpPr txBox="1"/>
          <p:nvPr/>
        </p:nvSpPr>
        <p:spPr>
          <a:xfrm>
            <a:off x="802433" y="3995410"/>
            <a:ext cx="7091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G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🔧  </a:t>
            </a:r>
            <a:r>
              <a:rPr lang="en-NG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 </a:t>
            </a:r>
            <a:r>
              <a:rPr lang="en-NG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Microsoft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2F31A-2BA1-4F83-D1D5-DBA55E596AF2}"/>
              </a:ext>
            </a:extLst>
          </p:cNvPr>
          <p:cNvSpPr txBox="1"/>
          <p:nvPr/>
        </p:nvSpPr>
        <p:spPr>
          <a:xfrm>
            <a:off x="335903" y="5651450"/>
            <a:ext cx="1155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analysis and working file available at: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https://github.com/Princess-Okere/Superstore-Sales-Dashboard.git</a:t>
            </a:r>
            <a:endParaRPr lang="en-NG" i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497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E6DD1-928B-E737-639F-B3DBEB562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96" y="335902"/>
            <a:ext cx="11644604" cy="58223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F046A-66E0-3EE7-A7E9-1A615A8C7FA8}"/>
              </a:ext>
            </a:extLst>
          </p:cNvPr>
          <p:cNvSpPr txBox="1"/>
          <p:nvPr/>
        </p:nvSpPr>
        <p:spPr>
          <a:xfrm>
            <a:off x="242596" y="6368209"/>
            <a:ext cx="4404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dashboard with Year and Region filtering </a:t>
            </a:r>
            <a:endParaRPr lang="en-NG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4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BADA8-BA9F-431D-0CB8-7FE6E60185A3}"/>
              </a:ext>
            </a:extLst>
          </p:cNvPr>
          <p:cNvSpPr txBox="1"/>
          <p:nvPr/>
        </p:nvSpPr>
        <p:spPr>
          <a:xfrm>
            <a:off x="410547" y="279918"/>
            <a:ext cx="500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Performance </a:t>
            </a:r>
            <a:endParaRPr lang="en-NG" sz="32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0380A-92C0-9A9E-8361-9657F5CC8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7" y="1018838"/>
            <a:ext cx="6195526" cy="4336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E2D3A2-87CD-BE94-C76A-1CE4C14C5D5A}"/>
              </a:ext>
            </a:extLst>
          </p:cNvPr>
          <p:cNvSpPr txBox="1"/>
          <p:nvPr/>
        </p:nvSpPr>
        <p:spPr>
          <a:xfrm>
            <a:off x="6780246" y="864693"/>
            <a:ext cx="50012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endParaRPr lang="en-US" sz="20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West leads with 31.4% of total revenue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South trails at 17.2% — a 14.2 point gap behind West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East and West together account for 61% of all revenue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Revenue is geographically concentrated  — two regions dominate</a:t>
            </a:r>
            <a:endParaRPr lang="en-NG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92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ADEF26-9A71-E100-35CB-8CA8A9E77F2D}"/>
              </a:ext>
            </a:extLst>
          </p:cNvPr>
          <p:cNvSpPr txBox="1"/>
          <p:nvPr/>
        </p:nvSpPr>
        <p:spPr>
          <a:xfrm>
            <a:off x="0" y="186611"/>
            <a:ext cx="5840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Trends (2015-2018) </a:t>
            </a:r>
            <a:endParaRPr lang="en-NG" sz="32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F58DF-D464-07A5-29D6-5F831D4B2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" y="1119674"/>
            <a:ext cx="6140177" cy="3732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2BE67C-809F-D794-8D09-CFB0EED2B753}"/>
              </a:ext>
            </a:extLst>
          </p:cNvPr>
          <p:cNvSpPr txBox="1"/>
          <p:nvPr/>
        </p:nvSpPr>
        <p:spPr>
          <a:xfrm>
            <a:off x="6625700" y="542740"/>
            <a:ext cx="5361027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Overall, revenue followed a consistent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upward trajectory across all four years.</a:t>
            </a:r>
          </a:p>
          <a:p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Q4 peaks every year — the highest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quarter in each year is always Q4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without exception.</a:t>
            </a:r>
          </a:p>
          <a:p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A recurring Q1 dip visible across all four years.</a:t>
            </a:r>
          </a:p>
          <a:p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2016 shows the flattest period — peaks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and troughs remained at similar levels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to 2015.</a:t>
            </a:r>
          </a:p>
          <a:p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Growth visibly accelerated from 2017 —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both peaks and troughs rose sharply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through 2017 and 2018.</a:t>
            </a:r>
          </a:p>
          <a:p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Highest single quarter: 2018 Q4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at $278.4K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96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CB810B-939A-B14A-EC39-B8A748711B07}"/>
              </a:ext>
            </a:extLst>
          </p:cNvPr>
          <p:cNvSpPr txBox="1"/>
          <p:nvPr/>
        </p:nvSpPr>
        <p:spPr>
          <a:xfrm>
            <a:off x="255037" y="149289"/>
            <a:ext cx="4839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 Performance </a:t>
            </a:r>
            <a:endParaRPr lang="en-NG" sz="32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D62AA-CACF-4FF6-536E-1255CBCE2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37" y="1013982"/>
            <a:ext cx="5840963" cy="3912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CA6C82-B3CD-A7D9-431B-A17BB7D5D111}"/>
              </a:ext>
            </a:extLst>
          </p:cNvPr>
          <p:cNvSpPr txBox="1"/>
          <p:nvPr/>
        </p:nvSpPr>
        <p:spPr>
          <a:xfrm>
            <a:off x="6475446" y="771386"/>
            <a:ext cx="53567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endParaRPr lang="en-US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leads revenue despite fewest  transactions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Phones: 14.5% of total revenue ($327.8K)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Binders: 1,492 orders — most transactions, only 8.8% of revenue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High volume ≠ high revenue</a:t>
            </a:r>
          </a:p>
        </p:txBody>
      </p:sp>
    </p:spTree>
    <p:extLst>
      <p:ext uri="{BB962C8B-B14F-4D97-AF65-F5344CB8AC3E}">
        <p14:creationId xmlns:p14="http://schemas.microsoft.com/office/powerpoint/2010/main" val="104380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EC198-54CC-C010-B975-66289AD9E37B}"/>
              </a:ext>
            </a:extLst>
          </p:cNvPr>
          <p:cNvSpPr txBox="1"/>
          <p:nvPr/>
        </p:nvSpPr>
        <p:spPr>
          <a:xfrm>
            <a:off x="255037" y="149289"/>
            <a:ext cx="545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Performance </a:t>
            </a:r>
            <a:endParaRPr lang="en-NG" sz="32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9DAC9-8041-955A-A0E2-AC77343CD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37" y="909871"/>
            <a:ext cx="5973009" cy="3886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0B7E7B-9D4F-3E79-CEAC-36E7F1626E80}"/>
              </a:ext>
            </a:extLst>
          </p:cNvPr>
          <p:cNvSpPr txBox="1"/>
          <p:nvPr/>
        </p:nvSpPr>
        <p:spPr>
          <a:xfrm>
            <a:off x="6475446" y="771386"/>
            <a:ext cx="535673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Top 5 states = 51.9% of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total revenue.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Bottom 5 states = just 0.3%.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California alone ($446K)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exceeds all bottom 5 states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combined ($6K).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North Dakota: $920 total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across four years.</a:t>
            </a:r>
          </a:p>
        </p:txBody>
      </p:sp>
    </p:spTree>
    <p:extLst>
      <p:ext uri="{BB962C8B-B14F-4D97-AF65-F5344CB8AC3E}">
        <p14:creationId xmlns:p14="http://schemas.microsoft.com/office/powerpoint/2010/main" val="3707544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5AC40-3C57-8DEF-8897-E572D79CF706}"/>
              </a:ext>
            </a:extLst>
          </p:cNvPr>
          <p:cNvSpPr txBox="1"/>
          <p:nvPr/>
        </p:nvSpPr>
        <p:spPr>
          <a:xfrm>
            <a:off x="255037" y="149289"/>
            <a:ext cx="5156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Patterns</a:t>
            </a:r>
            <a:endParaRPr lang="en-NG" sz="36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F8E7F-4FED-3821-A3D8-B82059C8A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37" y="1021837"/>
            <a:ext cx="6015135" cy="3620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7A88A5-A741-C0C8-308C-94D81ECDDE0C}"/>
              </a:ext>
            </a:extLst>
          </p:cNvPr>
          <p:cNvSpPr txBox="1"/>
          <p:nvPr/>
        </p:nvSpPr>
        <p:spPr>
          <a:xfrm>
            <a:off x="6475446" y="771386"/>
            <a:ext cx="535673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November is the strongest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month every year ($21.9K avg).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September produces a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consistent mid-year peak.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January is the weakest month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every year ($5.9K avg).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This pattern repeats across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all four years — structural,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not random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248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99C0B3-4F77-5DC9-7617-2F1234472F6C}"/>
              </a:ext>
            </a:extLst>
          </p:cNvPr>
          <p:cNvSpPr txBox="1"/>
          <p:nvPr/>
        </p:nvSpPr>
        <p:spPr>
          <a:xfrm>
            <a:off x="255037" y="149289"/>
            <a:ext cx="5156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Segments</a:t>
            </a:r>
            <a:endParaRPr lang="en-NG" sz="36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6BDE2-5A0D-F359-7BF4-C924B612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6" y="1103071"/>
            <a:ext cx="5449975" cy="3506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869424-1632-63ED-6FBD-ABDB280E6412}"/>
              </a:ext>
            </a:extLst>
          </p:cNvPr>
          <p:cNvSpPr txBox="1"/>
          <p:nvPr/>
        </p:nvSpPr>
        <p:spPr>
          <a:xfrm>
            <a:off x="6475446" y="771386"/>
            <a:ext cx="53567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Consumer generates the highest revenue but has the lowest AOV — indicating strong performance driven by order volume.</a:t>
            </a:r>
          </a:p>
          <a:p>
            <a:endParaRPr 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Home Office has highest AOV 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at $243 — reflecting fewer yet higher-value purchases.</a:t>
            </a:r>
          </a:p>
        </p:txBody>
      </p:sp>
    </p:spTree>
    <p:extLst>
      <p:ext uri="{BB962C8B-B14F-4D97-AF65-F5344CB8AC3E}">
        <p14:creationId xmlns:p14="http://schemas.microsoft.com/office/powerpoint/2010/main" val="92219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EE12-7127-F906-F1A3-52F03E25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787"/>
            <a:ext cx="10515600" cy="82919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 </a:t>
            </a:r>
            <a:endParaRPr lang="en-NG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8E62C8-E96C-751A-A90A-B65EDE3D6516}"/>
              </a:ext>
            </a:extLst>
          </p:cNvPr>
          <p:cNvSpPr txBox="1"/>
          <p:nvPr/>
        </p:nvSpPr>
        <p:spPr>
          <a:xfrm>
            <a:off x="422988" y="1225689"/>
            <a:ext cx="113460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Based on the analysis findings: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  Strengthen West region investment — defend the dominant 31.4% revenue position.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  Develop South region strategy — 17.2% share signals underdevelopment relative to other regions.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 Build Q1 recovery campaigns — January  consistently underperforms; preventable with targeted promotion.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  Prioritize Technology category growth — highest revenue per transaction across all sub-categories.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  Target Home Office segment expansion — highest AOV, lowest customer count, largest untapped growth opportunity.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6.  Focus geographic acquisition in top-performing  states — California, New York and Texas show proven buying behavior.</a:t>
            </a:r>
            <a:endParaRPr lang="en-NG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09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C527-A4D2-1B43-A20A-B2E0EA49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Skills Demonstrated</a:t>
            </a:r>
            <a:endParaRPr lang="en-NG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FF713-8534-FCEE-9F73-66B3EC26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349975"/>
            <a:ext cx="5157787" cy="61416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endParaRPr lang="en-NG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CE3B4-679E-E430-ABFC-CDF6597A8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093119"/>
            <a:ext cx="5157787" cy="3684588"/>
          </a:xfrm>
        </p:spPr>
        <p:txBody>
          <a:bodyPr>
            <a:normAutofit lnSpcReduction="10000"/>
          </a:bodyPr>
          <a:lstStyle/>
          <a:p>
            <a:r>
              <a:rPr lang="en-NG" dirty="0"/>
              <a:t>Microsoft Excel</a:t>
            </a:r>
          </a:p>
          <a:p>
            <a:r>
              <a:rPr lang="en-NG" dirty="0"/>
              <a:t>Power Query (data cleaning)</a:t>
            </a:r>
          </a:p>
          <a:p>
            <a:r>
              <a:rPr lang="en-NG" dirty="0"/>
              <a:t>Pivot Tables &amp; GETPIVOTDATA</a:t>
            </a:r>
          </a:p>
          <a:p>
            <a:r>
              <a:rPr lang="en-NG" dirty="0"/>
              <a:t>Dynamic KPI cards</a:t>
            </a:r>
          </a:p>
          <a:p>
            <a:r>
              <a:rPr lang="en-NG" dirty="0"/>
              <a:t>Slicer-driven filtering</a:t>
            </a:r>
          </a:p>
          <a:p>
            <a:r>
              <a:rPr lang="en-NG" dirty="0"/>
              <a:t>Combo, line &amp; bar charts</a:t>
            </a:r>
          </a:p>
          <a:p>
            <a:r>
              <a:rPr lang="en-NG" dirty="0"/>
              <a:t>VBA macro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233DA7-FDBD-6D44-DE86-A1E9D5B38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349975"/>
            <a:ext cx="5183188" cy="6629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Analytical </a:t>
            </a:r>
            <a:endParaRPr lang="en-NG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B0056-0078-F1D5-6C59-5D4C75DB0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64143"/>
            <a:ext cx="5183188" cy="3813564"/>
          </a:xfrm>
        </p:spPr>
        <p:txBody>
          <a:bodyPr>
            <a:normAutofit lnSpcReduction="10000"/>
          </a:bodyPr>
          <a:lstStyle/>
          <a:p>
            <a:r>
              <a:rPr lang="en-NG" dirty="0"/>
              <a:t>Business question formulation</a:t>
            </a:r>
          </a:p>
          <a:p>
            <a:r>
              <a:rPr lang="en-NG" dirty="0"/>
              <a:t>Volume vs value analysis</a:t>
            </a:r>
          </a:p>
          <a:p>
            <a:r>
              <a:rPr lang="en-NG" dirty="0"/>
              <a:t>Seasonal pattern identification</a:t>
            </a:r>
          </a:p>
          <a:p>
            <a:r>
              <a:rPr lang="en-NG" dirty="0"/>
              <a:t>Geographic performance analysis</a:t>
            </a:r>
          </a:p>
          <a:p>
            <a:r>
              <a:rPr lang="en-NG" dirty="0"/>
              <a:t>Customer segmentation</a:t>
            </a:r>
          </a:p>
          <a:p>
            <a:r>
              <a:rPr lang="en-NG" dirty="0"/>
              <a:t>Insight communication</a:t>
            </a:r>
          </a:p>
          <a:p>
            <a:r>
              <a:rPr lang="en-NG" dirty="0"/>
              <a:t>Dashboard design principles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0D8D0F-BA63-CAF9-22C3-593EF6273066}"/>
              </a:ext>
            </a:extLst>
          </p:cNvPr>
          <p:cNvCxnSpPr/>
          <p:nvPr/>
        </p:nvCxnSpPr>
        <p:spPr>
          <a:xfrm>
            <a:off x="5784980" y="1349975"/>
            <a:ext cx="0" cy="4957519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44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BCED9-B6CA-5583-306E-6856472F017A}"/>
              </a:ext>
            </a:extLst>
          </p:cNvPr>
          <p:cNvSpPr txBox="1"/>
          <p:nvPr/>
        </p:nvSpPr>
        <p:spPr>
          <a:xfrm>
            <a:off x="597159" y="1250302"/>
            <a:ext cx="111220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View the full project on GitHub: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https://github.com/Princess-Okere/Superstore-Sales-Dashboard.git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Includes: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Working Excel file | Full analysis | Interactive dashboard | README documentation</a:t>
            </a:r>
            <a:endParaRPr lang="en-NG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1E113-A983-7C68-4825-C051B49B7A68}"/>
              </a:ext>
            </a:extLst>
          </p:cNvPr>
          <p:cNvSpPr txBox="1"/>
          <p:nvPr/>
        </p:nvSpPr>
        <p:spPr>
          <a:xfrm>
            <a:off x="8901405" y="5238366"/>
            <a:ext cx="255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Princess Ohiri-Okere</a:t>
            </a:r>
            <a:endParaRPr lang="en-NG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29CB3E-1FCA-6ED2-3FBC-4D31C3BB7D9E}"/>
              </a:ext>
            </a:extLst>
          </p:cNvPr>
          <p:cNvCxnSpPr/>
          <p:nvPr/>
        </p:nvCxnSpPr>
        <p:spPr>
          <a:xfrm>
            <a:off x="8901405" y="5607698"/>
            <a:ext cx="20527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76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602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US Superstore Sales Performance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Recommendations </vt:lpstr>
      <vt:lpstr>Skills Demonstrated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princessokere2@gmail.com</dc:creator>
  <cp:lastModifiedBy>princessokere2@gmail.com</cp:lastModifiedBy>
  <cp:revision>7</cp:revision>
  <dcterms:created xsi:type="dcterms:W3CDTF">2026-06-10T12:35:11Z</dcterms:created>
  <dcterms:modified xsi:type="dcterms:W3CDTF">2026-06-10T14:17:39Z</dcterms:modified>
</cp:coreProperties>
</file>